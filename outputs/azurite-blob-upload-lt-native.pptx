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503DD-9A55-A74F-8D68-42F43834F044}" v="15" dt="2026-06-18T04:58:42.377"/>
    <p1510:client id="{635396C7-E076-4085-7208-8A28678FCE91}" v="42" dt="2026-06-17T18:35:27.353"/>
    <p1510:client id="{9D7EB536-7EDE-3EF9-0113-5A15C9EB6A3A}" v="1" dt="2026-06-17T19:08:23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84D05-C610-47B1-A29B-4F2940D413E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3D98B-66E0-46E5-B4AA-80BD223587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第11回 JAZUG for </a:t>
            </a:r>
            <a:r>
              <a:rPr lang="en-US" err="1"/>
              <a:t>WomenでのLTです</a:t>
            </a:r>
            <a:r>
              <a:rPr lang="en-US"/>
              <a:t>。</a:t>
            </a:r>
          </a:p>
          <a:p>
            <a:r>
              <a:rPr lang="en-US" err="1"/>
              <a:t>今日はAzure</a:t>
            </a:r>
            <a:r>
              <a:rPr lang="en-US"/>
              <a:t> Blob </a:t>
            </a:r>
            <a:r>
              <a:rPr lang="en-US" err="1"/>
              <a:t>Storageへの直接アップロードを、Azuriteでローカルに再現しながら紹介します</a:t>
            </a:r>
            <a:r>
              <a:rPr lang="en-US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自己紹介です</a:t>
            </a:r>
            <a:r>
              <a:rPr lang="en-US"/>
              <a:t>。</a:t>
            </a:r>
          </a:p>
          <a:p>
            <a:r>
              <a:rPr lang="en-US"/>
              <a:t>堀夏実です。ハンドルネームははんどるねーむ、Xは@_handle_nameです。今年の5月からLazyAI株式会社で業務委託として少し働いています。普段は情シスヘルプデスクのドメインエキスパートですが、開発にも少し参画しています。今日は初めてAzuriteでローカル検証してみた経験を共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全体のゴールを先に共有します。SASやBlob Storageに詳しくなくても、直接アップロードの流れと検証の考え方が持ち帰れる構成です。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Blob Storage、SAS、Managed Identity、RBAC、Azuriteの役割を短く説明します。アイコンはMicrosoft LearnのAzure Architecture Icons公式配布を使っています。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Blob StorageはStorage Account、Container、Blobという階層で考えるとわかりやすいです。Blobが実際のファイル1つに相当します。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APIで中継する構成と、Blob Storageに直接アップロードする構成を比べます。後者ではAPIサーバーはファイル転送ではなく認可と状態管理に集中できます。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SASは便利ですが、URLを持つ人は期限内に操作できるので、権限と期限を削ることが大事です。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Shared KeyよりUser Delegation SASに寄せる理由を説明します。Managed IdentityとRBACでアプリの権限範囲を扱えるのがメリットです。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ここからデモの構成に入ります。local APIとAzuriteを使い、ブラウザまたはcurlから直接アップロードする流れを見せます。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本番Azureでの構成図です。BrowserはAPIからSAS URLを受け取り、Blob Storageへ直接PUTします。APIはメタデータDBを更新し、Managed IdentityとRBACでStorageへの権限を得ます。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ローカルデモは本番構成の縮小版として説明します。Azuriteで直接アップロードの流れを確認し、RBACやManaged Identityの本番固有部分は別途実Azureで確認する、という整理です。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まずAzuriteをDocker Composeで起動します。azurite-initでコンテナ作成やCORS設定まで自動化しておくと、デモやローカル開発がかなり楽です。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prepare APIにファイル名、サイズ、Content-Typeを渡すと、pending状態を作ってSAS URLを返します。この時点ではまだアップロード成功ではありません。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返ってきたSAS URLに対して直接PUTします。APIサーバーではなく、Blob Storage相当のエンドポイントに送っていることを強調します。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アップロード後、APIがBlob propertiesを確認します。実体確認まで通って初めてcompletedになります。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DBとBlobは同じトランザクションで扱えません。pending/completed/failedの状態を持つことで、中途半端な添付をアプリで使わないようにします。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デモの失敗ケースです。SASでアップロード自体はできますが、complete時に実サイズを見てfailedにします。成功ケースだけでなく失敗ケースをローカルで見せられるのがAzuriteのうれしい点です。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Delegation SASの実装で効いた小さな工夫です。Key取得を毎回行うのではなく、SASの期限をカバーできるKeyを再利用します。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Azuriteは便利ですが完全な本番代替ではありません。ローカル検証で流れを固め、最後は実Azureでも確認する、という使い分けが大事です。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このLTのまとめに入ります。SAS URLを作ることだけでなく、権限、状態管理、実体確認、ローカル検証をセットで考えるのがポイントです。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最後のまとめです。直接アップロードは便利ですが、権限と状態管理と検証がセットで必要です。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公式ドキュメントへのリンクです。特にSAS overviewとAzuriteのページは、今日の話の復習に向いています。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2.sv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azure/role-based-access-control/overview" TargetMode="External"/><Relationship Id="rId3" Type="http://schemas.openxmlformats.org/officeDocument/2006/relationships/hyperlink" Target="https://learn.microsoft.com/azure/architecture/icons" TargetMode="External"/><Relationship Id="rId7" Type="http://schemas.openxmlformats.org/officeDocument/2006/relationships/hyperlink" Target="https://learn.microsoft.com/entra/identity/managed-identities-azure-resources/overview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azure/storage/blobs/storage-blob-user-delegation-sas-create-dotnet" TargetMode="External"/><Relationship Id="rId5" Type="http://schemas.openxmlformats.org/officeDocument/2006/relationships/hyperlink" Target="https://learn.microsoft.com/azure/storage/common/storage-sas-overview" TargetMode="External"/><Relationship Id="rId4" Type="http://schemas.openxmlformats.org/officeDocument/2006/relationships/hyperlink" Target="https://learn.microsoft.com/azure/storage/blobs/storage-blobs-introduction" TargetMode="External"/><Relationship Id="rId9" Type="http://schemas.openxmlformats.org/officeDocument/2006/relationships/hyperlink" Target="https://learn.microsoft.com/azure/storage/common/storage-use-azuri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731520"/>
            <a:ext cx="4023360" cy="4023360"/>
          </a:xfrm>
          <a:prstGeom prst="arc">
            <a:avLst/>
          </a:prstGeom>
          <a:solidFill>
            <a:srgbClr val="102A43">
              <a:alpha val="0"/>
            </a:srgbClr>
          </a:solidFill>
          <a:ln w="38100">
            <a:solidFill>
              <a:srgbClr val="06B6D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4023360"/>
            <a:ext cx="2743200" cy="2743200"/>
          </a:xfrm>
          <a:prstGeom prst="arc">
            <a:avLst/>
          </a:prstGeom>
          <a:solidFill>
            <a:srgbClr val="102A43">
              <a:alpha val="0"/>
            </a:srgbClr>
          </a:solidFill>
          <a:ln w="3810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58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</a:rPr>
              <a:t>AZURE STORAGE LT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7F3D0"/>
                </a:solidFill>
              </a:rPr>
              <a:t>第11回 JAZUG for Women  /  #jazug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Azuriteで試す</a:t>
            </a:r>
            <a:endParaRPr lang="en-US" sz="4200"/>
          </a:p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Blob Storage</a:t>
            </a:r>
            <a:endParaRPr lang="en-US" sz="4200"/>
          </a:p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直接アップロード入門</a:t>
            </a:r>
            <a:endParaRPr lang="en-US" sz="4200"/>
          </a:p>
        </p:txBody>
      </p:sp>
      <p:sp>
        <p:nvSpPr>
          <p:cNvPr id="8" name="Text 6"/>
          <p:cNvSpPr/>
          <p:nvPr/>
        </p:nvSpPr>
        <p:spPr>
          <a:xfrm>
            <a:off x="713232" y="3886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FE8FF"/>
                </a:solidFill>
              </a:rPr>
              <a:t>SAS・Managed Identity・ローカル検証で学んだこと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713232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>
                <a:solidFill>
                  <a:srgbClr val="CFE8FF"/>
                </a:solidFill>
                <a:ea typeface="游ゴシック"/>
              </a:rPr>
              <a:t>はんどるねーむ</a:t>
            </a:r>
            <a:r>
              <a:rPr lang="en-US" sz="1350">
                <a:solidFill>
                  <a:srgbClr val="CFE8FF"/>
                </a:solidFill>
              </a:rPr>
              <a:t> (@_handle_name)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713232" y="6080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</a:rPr>
              <a:t>15 min Lightning Talk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93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ME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85216" y="74980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5216" y="1307592"/>
            <a:ext cx="1088136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2823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A0AF"/>
                </a:solidFill>
              </a:rPr>
              <a:t>Azuriteで試す Azure Blob Storage 直接アップロード入門 / #jazug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64282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889"/>
                </a:solidFill>
              </a:rPr>
              <a:t>02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337560" cy="452628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2700" dist="50800" dir="2700000">
              <a:srgbClr val="0B1F31">
                <a:alpha val="14000"/>
              </a:srgbClr>
            </a:outerShdw>
          </a:effectLst>
        </p:spPr>
      </p:sp>
      <p:pic>
        <p:nvPicPr>
          <p:cNvPr id="8" name="Image 0" descr="/Users/hn/Documents/Codex/2026-06-18/https-airouai-my-sharepoint-com-p/work/native/media/profil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10512"/>
            <a:ext cx="2880360" cy="37307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431536"/>
            <a:ext cx="2880360" cy="475488"/>
          </a:xfrm>
          <a:prstGeom prst="rect">
            <a:avLst/>
          </a:prstGeom>
          <a:solidFill>
            <a:srgbClr val="F7F9FB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5504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3D"/>
                </a:solidFill>
              </a:rPr>
              <a:t>はんどるねーむ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57241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6274"/>
                </a:solidFill>
              </a:rPr>
              <a:t>@_handle_name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43400" y="1627632"/>
            <a:ext cx="6720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2700" dist="50800" dir="2700000">
              <a:srgbClr val="0B1F31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627632"/>
            <a:ext cx="64008" cy="841248"/>
          </a:xfrm>
          <a:prstGeom prst="rect">
            <a:avLst/>
          </a:prstGeom>
          <a:solidFill>
            <a:srgbClr val="27B8D0"/>
          </a:solidFill>
          <a:ln w="12700">
            <a:solidFill>
              <a:srgbClr val="27B8D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0288" y="1764792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3D"/>
                </a:solidFill>
              </a:rPr>
              <a:t>堀 夏実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90288" y="2066544"/>
            <a:ext cx="6263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3B4D"/>
                </a:solidFill>
              </a:rPr>
              <a:t>情シスヘルプデスクのドメインエキスパートとして勤務しながら、開発にも少し参画しています。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343400" y="2633472"/>
            <a:ext cx="6720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2700" dist="50800" dir="2700000">
              <a:srgbClr val="0B1F31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43400" y="2633472"/>
            <a:ext cx="64008" cy="841248"/>
          </a:xfrm>
          <a:prstGeom prst="rect">
            <a:avLst/>
          </a:prstGeom>
          <a:solidFill>
            <a:srgbClr val="1FBF9C"/>
          </a:solidFill>
          <a:ln w="12700">
            <a:solidFill>
              <a:srgbClr val="1FBF9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2770632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3D"/>
                </a:solidFill>
              </a:rPr>
              <a:t>LazyAI株式会社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90288" y="3072384"/>
            <a:ext cx="6263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3B4D"/>
                </a:solidFill>
              </a:rPr>
              <a:t>情報システム部門の日常業務をAIで支援するAIプラットフォームを開発しています。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343400" y="3639312"/>
            <a:ext cx="6720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2700" dist="50800" dir="2700000">
              <a:srgbClr val="0B1F31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43400" y="3639312"/>
            <a:ext cx="64008" cy="841248"/>
          </a:xfrm>
          <a:prstGeom prst="rect">
            <a:avLst/>
          </a:prstGeom>
          <a:solidFill>
            <a:srgbClr val="F2A51A"/>
          </a:solidFill>
          <a:ln w="12700">
            <a:solidFill>
              <a:srgbClr val="F2A51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90288" y="3776472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3D"/>
                </a:solidFill>
              </a:rPr>
              <a:t>今日の立ち位置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90288" y="4078224"/>
            <a:ext cx="6263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3B4D"/>
                </a:solidFill>
              </a:rPr>
              <a:t>Azureも開発も学びながら、初めてAzuriteでローカル検証してみた経験を共有します。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4343400" y="4645152"/>
            <a:ext cx="6720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2700" dist="50800" dir="2700000">
              <a:srgbClr val="0B1F31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43400" y="4645152"/>
            <a:ext cx="64008" cy="841248"/>
          </a:xfrm>
          <a:prstGeom prst="rect">
            <a:avLst/>
          </a:prstGeom>
          <a:solidFill>
            <a:srgbClr val="256BD6"/>
          </a:solidFill>
          <a:ln w="12700">
            <a:solidFill>
              <a:srgbClr val="256BD6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90288" y="4782312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3D"/>
                </a:solidFill>
              </a:rPr>
              <a:t>今日のお願い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90288" y="5084064"/>
            <a:ext cx="6263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3B4D"/>
                </a:solidFill>
              </a:rPr>
              <a:t>お手柔らかにお願いします。一緒に勉強しましょう！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今日のゴール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76072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Blob Storage の基本を知る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 URL を使った直接アップロードの流れを知る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 でローカル検証する方法を知る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「アップロードできた」で終わらせない確認ポイントを知る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7315200" y="18745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874520"/>
            <a:ext cx="7315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20756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今日の主役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7543800" y="25146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本物のAzureではなく、ローカルのAzuriteを使って成功ケースと失敗ケースをデモします。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7315200" y="35661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56616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37673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聞きどころ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7543800" y="42062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 URLを作ることより、権限と状態管理をどう考えるかがポイントです。</a:t>
            </a:r>
            <a:endParaRPr lang="en-US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今日出てくるAzure用語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Azure Blob Stor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392" y="1792224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72184" y="17556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Blob Storage</a:t>
            </a:r>
            <a:endParaRPr lang="en-US" sz="1250"/>
          </a:p>
        </p:txBody>
      </p:sp>
      <p:sp>
        <p:nvSpPr>
          <p:cNvPr id="9" name="Text 6"/>
          <p:cNvSpPr/>
          <p:nvPr/>
        </p:nvSpPr>
        <p:spPr>
          <a:xfrm>
            <a:off x="1472184" y="20574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ファイルや画像などを置くオブジェクトストレージ。</a:t>
            </a:r>
            <a:endParaRPr lang="en-US" sz="980"/>
          </a:p>
        </p:txBody>
      </p:sp>
      <p:sp>
        <p:nvSpPr>
          <p:cNvPr id="10" name="Shape 7"/>
          <p:cNvSpPr/>
          <p:nvPr/>
        </p:nvSpPr>
        <p:spPr>
          <a:xfrm>
            <a:off x="685800" y="155448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155448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S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9432" y="1792224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21224" y="17556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</a:t>
            </a:r>
            <a:endParaRPr lang="en-US" sz="1250"/>
          </a:p>
        </p:txBody>
      </p:sp>
      <p:sp>
        <p:nvSpPr>
          <p:cNvPr id="14" name="Text 10"/>
          <p:cNvSpPr/>
          <p:nvPr/>
        </p:nvSpPr>
        <p:spPr>
          <a:xfrm>
            <a:off x="5221224" y="20574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期限付き・権限付きでアクセスを委譲する一時URL。</a:t>
            </a:r>
            <a:endParaRPr lang="en-US" sz="980"/>
          </a:p>
        </p:txBody>
      </p:sp>
      <p:sp>
        <p:nvSpPr>
          <p:cNvPr id="15" name="Shape 11"/>
          <p:cNvSpPr/>
          <p:nvPr/>
        </p:nvSpPr>
        <p:spPr>
          <a:xfrm>
            <a:off x="4434840" y="1554480"/>
            <a:ext cx="64008" cy="9875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83880" y="1554480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2" descr="Managed Ident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8472" y="1792224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0264" y="175564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</a:t>
            </a:r>
            <a:endParaRPr lang="en-US" sz="1250"/>
          </a:p>
        </p:txBody>
      </p:sp>
      <p:sp>
        <p:nvSpPr>
          <p:cNvPr id="19" name="Text 14"/>
          <p:cNvSpPr/>
          <p:nvPr/>
        </p:nvSpPr>
        <p:spPr>
          <a:xfrm>
            <a:off x="8970264" y="20574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アプリが秘密鍵なしでAzureへ認証する仕組み。</a:t>
            </a:r>
            <a:endParaRPr lang="en-US" sz="980"/>
          </a:p>
        </p:txBody>
      </p:sp>
      <p:sp>
        <p:nvSpPr>
          <p:cNvPr id="20" name="Shape 15"/>
          <p:cNvSpPr/>
          <p:nvPr/>
        </p:nvSpPr>
        <p:spPr>
          <a:xfrm>
            <a:off x="8183880" y="1554480"/>
            <a:ext cx="64008" cy="9875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377440" y="297180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2" name="Image 3" descr="Azure RBA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2032" y="3209544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163824" y="317296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RBAC</a:t>
            </a:r>
            <a:endParaRPr lang="en-US" sz="1250"/>
          </a:p>
        </p:txBody>
      </p:sp>
      <p:sp>
        <p:nvSpPr>
          <p:cNvPr id="24" name="Text 18"/>
          <p:cNvSpPr/>
          <p:nvPr/>
        </p:nvSpPr>
        <p:spPr>
          <a:xfrm>
            <a:off x="3163824" y="34747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Azureリソースに対して誰が何をできるかを管理。</a:t>
            </a:r>
            <a:endParaRPr lang="en-US" sz="980"/>
          </a:p>
        </p:txBody>
      </p:sp>
      <p:sp>
        <p:nvSpPr>
          <p:cNvPr id="25" name="Shape 19"/>
          <p:cNvSpPr/>
          <p:nvPr/>
        </p:nvSpPr>
        <p:spPr>
          <a:xfrm>
            <a:off x="2377440" y="2971800"/>
            <a:ext cx="64008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55080" y="297180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7" name="Image 4" descr="Azur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9672" y="3209544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1464" y="317296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</a:t>
            </a:r>
            <a:endParaRPr lang="en-US" sz="1250"/>
          </a:p>
        </p:txBody>
      </p:sp>
      <p:sp>
        <p:nvSpPr>
          <p:cNvPr id="29" name="Text 22"/>
          <p:cNvSpPr/>
          <p:nvPr/>
        </p:nvSpPr>
        <p:spPr>
          <a:xfrm>
            <a:off x="7141464" y="34747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ローカルで使えるAzure Storageエミュレータ。</a:t>
            </a:r>
            <a:endParaRPr lang="en-US" sz="980"/>
          </a:p>
        </p:txBody>
      </p:sp>
      <p:sp>
        <p:nvSpPr>
          <p:cNvPr id="30" name="Shape 23"/>
          <p:cNvSpPr/>
          <p:nvPr/>
        </p:nvSpPr>
        <p:spPr>
          <a:xfrm>
            <a:off x="6355080" y="2971800"/>
            <a:ext cx="64008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4300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>
                <a:solidFill>
                  <a:srgbClr val="475569"/>
                </a:solidFill>
              </a:rPr>
              <a:t>まず用語をそろえると、この後のデモがかなり見やすくなります。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Blob Storageの基本</a:t>
            </a:r>
            <a:endParaRPr lang="en-US" sz="3000"/>
          </a:p>
        </p:txBody>
      </p:sp>
      <p:sp>
        <p:nvSpPr>
          <p:cNvPr id="7" name="Shape 4"/>
          <p:cNvSpPr/>
          <p:nvPr/>
        </p:nvSpPr>
        <p:spPr>
          <a:xfrm>
            <a:off x="4069080" y="16002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080" y="1801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Account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6035040" y="2240280"/>
            <a:ext cx="0" cy="41148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069498" y="2651760"/>
            <a:ext cx="3931084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06B6D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3484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</a:t>
            </a:r>
            <a:endParaRPr lang="en-US" sz="1600"/>
          </a:p>
        </p:txBody>
      </p:sp>
      <p:sp>
        <p:nvSpPr>
          <p:cNvPr id="13" name="Shape 9"/>
          <p:cNvSpPr/>
          <p:nvPr/>
        </p:nvSpPr>
        <p:spPr>
          <a:xfrm>
            <a:off x="6035040" y="3291840"/>
            <a:ext cx="0" cy="41148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4069916" y="3713758"/>
            <a:ext cx="3930248" cy="629642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00600" y="3904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</a:t>
            </a:r>
            <a:endParaRPr lang="en-US" sz="1600"/>
          </a:p>
        </p:txBody>
      </p:sp>
      <p:sp>
        <p:nvSpPr>
          <p:cNvPr id="17" name="Shape 12"/>
          <p:cNvSpPr/>
          <p:nvPr/>
        </p:nvSpPr>
        <p:spPr>
          <a:xfrm>
            <a:off x="1417320" y="4983480"/>
            <a:ext cx="937260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581912" y="5120640"/>
            <a:ext cx="9043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https://account.blob.core.windows.net/container/file.png</a:t>
            </a:r>
            <a:endParaRPr lang="en-US" sz="1600"/>
          </a:p>
        </p:txBody>
      </p:sp>
      <p:pic>
        <p:nvPicPr>
          <p:cNvPr id="10" name="Image 1" descr="Contain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271" y="2727000"/>
            <a:ext cx="475488" cy="475488"/>
          </a:xfrm>
          <a:prstGeom prst="rect">
            <a:avLst/>
          </a:prstGeom>
        </p:spPr>
      </p:pic>
      <p:pic>
        <p:nvPicPr>
          <p:cNvPr id="6" name="Image 0" descr="Storage Accou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2544" y="1658446"/>
            <a:ext cx="530352" cy="530352"/>
          </a:xfrm>
          <a:prstGeom prst="rect">
            <a:avLst/>
          </a:prstGeom>
        </p:spPr>
      </p:pic>
      <p:pic>
        <p:nvPicPr>
          <p:cNvPr id="14" name="Image 2" descr="Blo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8264" y="3809875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アップロード構成を比べる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よくある構成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2606040" y="2423160"/>
            <a:ext cx="11430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94760" y="2103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Server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709160" y="2788920"/>
            <a:ext cx="0" cy="64008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94760" y="34747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475569"/>
                </a:solidFill>
              </a:rPr>
              <a:t>APIがファイル本体を受け取る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90372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今回の構成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6629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8321040" y="2423160"/>
            <a:ext cx="114300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09760" y="2103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Server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7452360" y="2788920"/>
            <a:ext cx="0" cy="64008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0" y="347472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263640" y="4617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>
                <a:solidFill>
                  <a:srgbClr val="475569"/>
                </a:solidFill>
              </a:rPr>
              <a:t>APIはSAS URLを発行し、ファイル本体はStorageへ直接PUT</a:t>
            </a:r>
            <a:endParaRPr lang="en-US"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SASは一時的な合鍵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502920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どのBlobにアクセスできるか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読み取り、書き込み、作成などの権限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いつまで有効か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HTTPSだけにするか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6720840" y="187452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874520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075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大事な考え方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94944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 URLは漏れると期限内は使えてしまう。だから短時間・最小権限にする。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6720840" y="35661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3566160"/>
            <a:ext cx="7315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今回の例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94944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アップロード用SASは、特定Blobへ短時間だけPUTできるURLとして扱う。</a:t>
            </a:r>
            <a:endParaRPr lang="en-US"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Delegation SASを使う理由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9164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8928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Key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Accountのキーで署名する。キーが強い権限を持つため、アプリ側での管理が重くなりやすい。</a:t>
            </a:r>
            <a:endParaRPr lang="en-US" sz="1350"/>
          </a:p>
        </p:txBody>
      </p:sp>
      <p:pic>
        <p:nvPicPr>
          <p:cNvPr id="10" name="Image 0" descr="Storage Accou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0" y="1965960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83680" y="169164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1691640"/>
            <a:ext cx="73152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18928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Delegation SAS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>
          <a:xfrm>
            <a:off x="6812280" y="23317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 IDの認証情報で署名する。Managed Identity + RBACと相性がよい。</a:t>
            </a:r>
            <a:endParaRPr lang="en-US" sz="1350"/>
          </a:p>
        </p:txBody>
      </p:sp>
      <p:pic>
        <p:nvPicPr>
          <p:cNvPr id="15" name="Image 1" descr="Managed Ident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5560" y="1901952"/>
            <a:ext cx="502920" cy="502920"/>
          </a:xfrm>
          <a:prstGeom prst="rect">
            <a:avLst/>
          </a:prstGeom>
        </p:spPr>
      </p:pic>
      <p:pic>
        <p:nvPicPr>
          <p:cNvPr id="16" name="Image 2" descr="Azure RBA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1320" y="2331720"/>
            <a:ext cx="411480" cy="4114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40680" y="4206240"/>
            <a:ext cx="12344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8" name="Text 13"/>
          <p:cNvSpPr/>
          <p:nvPr/>
        </p:nvSpPr>
        <p:spPr>
          <a:xfrm>
            <a:off x="1097280" y="48920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可能な場合はUser Delegation SASを優先する、という設計に寄せる。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SETUP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今日のデモ構成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/ Browser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2971800" y="2157984"/>
            <a:ext cx="16002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17720" y="18288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778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API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1874520" y="2542032"/>
            <a:ext cx="0" cy="1344168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393192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5532120" y="2542032"/>
            <a:ext cx="0" cy="1344168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51960" y="393192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4142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properties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7498080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1965960"/>
            <a:ext cx="73152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167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なぜAzurite?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772668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本物のAzureリソースを使わずに、SAS URL発行、PUT、properties確認、失敗ケースをローカルで試せる。</a:t>
            </a:r>
            <a:endParaRPr lang="en-US"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93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85216" y="74980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サービス構成図: 本番Azureでの見方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5216" y="1307592"/>
            <a:ext cx="1088136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2823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A0AF"/>
                </a:solidFill>
              </a:rPr>
              <a:t>Azuriteで試す Azure Blob Storage 直接アップロード入門 / #jazug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64282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889"/>
                </a:solidFill>
              </a:rPr>
              <a:t>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41248" y="148132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07889"/>
                </a:solidFill>
              </a:rPr>
              <a:t>Client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840480" y="148132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07889"/>
                </a:solidFill>
              </a:rPr>
              <a:t>App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07889"/>
                </a:solidFill>
              </a:rPr>
              <a:t>Azure Storage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3886200" y="4297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07889"/>
                </a:solidFill>
              </a:rPr>
              <a:t>State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7360920" y="429768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07889"/>
                </a:solidFill>
              </a:rPr>
              <a:t>Identity / Permission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77240" y="17373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8FBFF"/>
          </a:solidFill>
          <a:ln w="12700">
            <a:solidFill>
              <a:srgbClr val="CFD9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1737360"/>
            <a:ext cx="64008" cy="777240"/>
          </a:xfrm>
          <a:prstGeom prst="rect">
            <a:avLst/>
          </a:prstGeom>
          <a:solidFill>
            <a:srgbClr val="256B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19019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3D"/>
                </a:solidFill>
              </a:rPr>
              <a:t>Browser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78408" y="22128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66274"/>
                </a:solidFill>
              </a:rPr>
              <a:t>ファイル選択 / PUT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703320" y="1737360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F8FBFF"/>
          </a:solidFill>
          <a:ln w="12700">
            <a:solidFill>
              <a:srgbClr val="CFD9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1737360"/>
            <a:ext cx="64008" cy="777240"/>
          </a:xfrm>
          <a:prstGeom prst="rect">
            <a:avLst/>
          </a:prstGeom>
          <a:solidFill>
            <a:srgbClr val="27B8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4488" y="1901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3D"/>
                </a:solidFill>
              </a:rPr>
              <a:t>Web / API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04488" y="2212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66274"/>
                </a:solidFill>
              </a:rPr>
              <a:t>認可・SAS発行・完了確認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909560" y="17373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8FBFF"/>
          </a:solidFill>
          <a:ln w="12700">
            <a:solidFill>
              <a:srgbClr val="CFD9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1737360"/>
            <a:ext cx="64008" cy="777240"/>
          </a:xfrm>
          <a:prstGeom prst="rect">
            <a:avLst/>
          </a:prstGeom>
          <a:solidFill>
            <a:srgbClr val="1FBF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1901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3D"/>
                </a:solidFill>
              </a:rPr>
              <a:t>Storage Account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10728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66274"/>
                </a:solidFill>
              </a:rPr>
              <a:t>Blob service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0104120" y="173736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F8FBFF"/>
          </a:solidFill>
          <a:ln w="12700">
            <a:solidFill>
              <a:srgbClr val="CFD9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04120" y="1737360"/>
            <a:ext cx="64008" cy="777240"/>
          </a:xfrm>
          <a:prstGeom prst="rect">
            <a:avLst/>
          </a:prstGeom>
          <a:solidFill>
            <a:srgbClr val="1FBF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05288" y="1901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3D"/>
                </a:solidFill>
              </a:rPr>
              <a:t>Container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305288" y="2212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66274"/>
                </a:solidFill>
              </a:rPr>
              <a:t>attachments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749040" y="457200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DFA"/>
          </a:solidFill>
          <a:ln w="12700">
            <a:solidFill>
              <a:srgbClr val="CFD9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0" y="4572000"/>
            <a:ext cx="64008" cy="749808"/>
          </a:xfrm>
          <a:prstGeom prst="rect">
            <a:avLst/>
          </a:prstGeom>
          <a:solidFill>
            <a:srgbClr val="F2A5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0208" y="47365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3D"/>
                </a:solidFill>
              </a:rPr>
              <a:t>Metadata DB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950208" y="5047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66274"/>
                </a:solidFill>
              </a:rPr>
              <a:t>pending / completed / failed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132320" y="4572000"/>
            <a:ext cx="1737360" cy="749808"/>
          </a:xfrm>
          <a:prstGeom prst="roundRect">
            <a:avLst>
              <a:gd name="adj" fmla="val 7317"/>
            </a:avLst>
          </a:prstGeom>
          <a:solidFill>
            <a:srgbClr val="F8FBFF"/>
          </a:solidFill>
          <a:ln w="12700">
            <a:solidFill>
              <a:srgbClr val="CFD9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4572000"/>
            <a:ext cx="64008" cy="749808"/>
          </a:xfrm>
          <a:prstGeom prst="rect">
            <a:avLst/>
          </a:prstGeom>
          <a:solidFill>
            <a:srgbClr val="1FBF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33488" y="4736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3D"/>
                </a:solidFill>
              </a:rPr>
              <a:t>Managed Identity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33488" y="5047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66274"/>
                </a:solidFill>
              </a:rPr>
              <a:t>秘密鍵なしで認証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509760" y="4572000"/>
            <a:ext cx="1737360" cy="749808"/>
          </a:xfrm>
          <a:prstGeom prst="roundRect">
            <a:avLst>
              <a:gd name="adj" fmla="val 7317"/>
            </a:avLst>
          </a:prstGeom>
          <a:solidFill>
            <a:srgbClr val="FFFDFA"/>
          </a:solidFill>
          <a:ln w="12700">
            <a:solidFill>
              <a:srgbClr val="CFD9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4572000"/>
            <a:ext cx="64008" cy="749808"/>
          </a:xfrm>
          <a:prstGeom prst="rect">
            <a:avLst/>
          </a:prstGeom>
          <a:solidFill>
            <a:srgbClr val="F2A5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10928" y="4736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3D"/>
                </a:solidFill>
              </a:rPr>
              <a:t>Azure RBAC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710928" y="5047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66274"/>
                </a:solidFill>
              </a:rPr>
              <a:t>Blob Data Contributor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697480" y="1975104"/>
            <a:ext cx="1005840" cy="0"/>
          </a:xfrm>
          <a:prstGeom prst="line">
            <a:avLst/>
          </a:prstGeom>
          <a:noFill/>
          <a:ln w="22860">
            <a:solidFill>
              <a:srgbClr val="256BD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825496" y="1719072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17465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1. prepare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3703320" y="2267712"/>
            <a:ext cx="-1005840" cy="0"/>
          </a:xfrm>
          <a:prstGeom prst="line">
            <a:avLst/>
          </a:prstGeom>
          <a:noFill/>
          <a:ln w="22860">
            <a:solidFill>
              <a:srgbClr val="256BD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734056" y="2331720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88920" y="23591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2. SAS URLを返す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417320" y="3127248"/>
            <a:ext cx="8686800" cy="0"/>
          </a:xfrm>
          <a:prstGeom prst="line">
            <a:avLst/>
          </a:prstGeom>
          <a:noFill/>
          <a:ln w="22860">
            <a:solidFill>
              <a:srgbClr val="1FBF9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797296" y="3227832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32552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3. direct PUT with SAS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2697480" y="2130552"/>
            <a:ext cx="1005840" cy="0"/>
          </a:xfrm>
          <a:prstGeom prst="line">
            <a:avLst/>
          </a:prstGeom>
          <a:noFill/>
          <a:ln w="22860">
            <a:solidFill>
              <a:srgbClr val="256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798064" y="2185416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52928" y="22128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4. complete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5760720" y="2066544"/>
            <a:ext cx="2148840" cy="0"/>
          </a:xfrm>
          <a:prstGeom prst="line">
            <a:avLst/>
          </a:prstGeom>
          <a:noFill/>
          <a:ln w="22860">
            <a:solidFill>
              <a:srgbClr val="1FBF9C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665976" y="1755648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17830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5. properties確認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4736592" y="2514600"/>
            <a:ext cx="0" cy="2057400"/>
          </a:xfrm>
          <a:prstGeom prst="line">
            <a:avLst/>
          </a:prstGeom>
          <a:noFill/>
          <a:ln w="22860">
            <a:solidFill>
              <a:srgbClr val="F2A51A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818888" y="3401568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34290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状態更新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5760720" y="2011680"/>
            <a:ext cx="1371600" cy="2880360"/>
          </a:xfrm>
          <a:prstGeom prst="line">
            <a:avLst/>
          </a:prstGeom>
          <a:noFill/>
          <a:ln w="22860">
            <a:solidFill>
              <a:srgbClr val="1FBF9C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574536" y="3310128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33375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MIで認証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8869680" y="4919472"/>
            <a:ext cx="640080" cy="0"/>
          </a:xfrm>
          <a:prstGeom prst="line">
            <a:avLst/>
          </a:prstGeom>
          <a:noFill/>
          <a:ln w="22860">
            <a:solidFill>
              <a:srgbClr val="F2A51A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814816" y="4617720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0" y="46451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権限付与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10058400" y="4572000"/>
            <a:ext cx="-1188720" cy="-2057400"/>
          </a:xfrm>
          <a:prstGeom prst="line">
            <a:avLst/>
          </a:prstGeom>
          <a:noFill/>
          <a:ln w="22860">
            <a:solidFill>
              <a:srgbClr val="F2A51A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134856" y="3374136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89720" y="340156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02A3D"/>
                </a:solidFill>
              </a:rPr>
              <a:t>Blob操作権限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777240" y="3456432"/>
            <a:ext cx="10241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0120" y="3602736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3D"/>
                </a:solidFill>
              </a:rPr>
              <a:t>ポイント: SAS URLは API -&gt; Browser へ返す。Storageへ送るものではない。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MAPPING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ローカルデモは本番構成の縮小版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pic>
        <p:nvPicPr>
          <p:cNvPr id="7" name="Image 0" descr="curl / Brows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9908" y="2130552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27523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/ Browser</a:t>
            </a:r>
            <a:endParaRPr lang="en-US" sz="1250"/>
          </a:p>
        </p:txBody>
      </p:sp>
      <p:sp>
        <p:nvSpPr>
          <p:cNvPr id="9" name="Text 6"/>
          <p:cNvSpPr/>
          <p:nvPr/>
        </p:nvSpPr>
        <p:spPr>
          <a:xfrm>
            <a:off x="978408" y="3026664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デモのクライアント</a:t>
            </a:r>
            <a:endParaRPr lang="en-US" sz="950"/>
          </a:p>
        </p:txBody>
      </p:sp>
      <p:sp>
        <p:nvSpPr>
          <p:cNvPr id="10" name="Shape 7"/>
          <p:cNvSpPr/>
          <p:nvPr/>
        </p:nvSpPr>
        <p:spPr>
          <a:xfrm>
            <a:off x="3703320" y="196596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pic>
        <p:nvPicPr>
          <p:cNvPr id="11" name="Image 1" descr="local AP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4548" y="213055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3048" y="27523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API</a:t>
            </a:r>
            <a:endParaRPr lang="en-US" sz="1250"/>
          </a:p>
        </p:txBody>
      </p:sp>
      <p:sp>
        <p:nvSpPr>
          <p:cNvPr id="13" name="Text 9"/>
          <p:cNvSpPr/>
          <p:nvPr/>
        </p:nvSpPr>
        <p:spPr>
          <a:xfrm>
            <a:off x="3813048" y="3026664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SAS発行 / complete</a:t>
            </a:r>
            <a:endParaRPr lang="en-US" sz="950"/>
          </a:p>
        </p:txBody>
      </p:sp>
      <p:sp>
        <p:nvSpPr>
          <p:cNvPr id="14" name="Shape 10"/>
          <p:cNvSpPr/>
          <p:nvPr/>
        </p:nvSpPr>
        <p:spPr>
          <a:xfrm>
            <a:off x="6537960" y="196596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pic>
        <p:nvPicPr>
          <p:cNvPr id="15" name="Image 2" descr="Azur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9188" y="2130552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47688" y="27523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</a:t>
            </a:r>
            <a:endParaRPr lang="en-US" sz="1250"/>
          </a:p>
        </p:txBody>
      </p:sp>
      <p:sp>
        <p:nvSpPr>
          <p:cNvPr id="17" name="Text 12"/>
          <p:cNvSpPr/>
          <p:nvPr/>
        </p:nvSpPr>
        <p:spPr>
          <a:xfrm>
            <a:off x="6647688" y="3026664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Storageエミュレータ</a:t>
            </a:r>
            <a:endParaRPr lang="en-US" sz="950"/>
          </a:p>
        </p:txBody>
      </p:sp>
      <p:sp>
        <p:nvSpPr>
          <p:cNvPr id="18" name="Shape 13"/>
          <p:cNvSpPr/>
          <p:nvPr/>
        </p:nvSpPr>
        <p:spPr>
          <a:xfrm>
            <a:off x="9372600" y="196596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pic>
        <p:nvPicPr>
          <p:cNvPr id="19" name="Image 3" descr="attachmen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3828" y="2130552"/>
            <a:ext cx="512064" cy="5120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82328" y="27523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attachments</a:t>
            </a:r>
            <a:endParaRPr lang="en-US" sz="1250"/>
          </a:p>
        </p:txBody>
      </p:sp>
      <p:sp>
        <p:nvSpPr>
          <p:cNvPr id="21" name="Text 15"/>
          <p:cNvSpPr/>
          <p:nvPr/>
        </p:nvSpPr>
        <p:spPr>
          <a:xfrm>
            <a:off x="9482328" y="3026664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ローカルContainer</a:t>
            </a:r>
            <a:endParaRPr lang="en-US" sz="950"/>
          </a:p>
        </p:txBody>
      </p:sp>
      <p:sp>
        <p:nvSpPr>
          <p:cNvPr id="22" name="Shape 16"/>
          <p:cNvSpPr/>
          <p:nvPr/>
        </p:nvSpPr>
        <p:spPr>
          <a:xfrm>
            <a:off x="2788920" y="2624328"/>
            <a:ext cx="86868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5577840" y="2624328"/>
            <a:ext cx="91440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412480" y="2624328"/>
            <a:ext cx="91440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1143000" y="420624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143000" y="420624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371600" y="44074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デモで見るポイント</a:t>
            </a:r>
            <a:endParaRPr lang="en-US" sz="1500"/>
          </a:p>
        </p:txBody>
      </p:sp>
      <p:sp>
        <p:nvSpPr>
          <p:cNvPr id="28" name="Text 22"/>
          <p:cNvSpPr/>
          <p:nvPr/>
        </p:nvSpPr>
        <p:spPr>
          <a:xfrm>
            <a:off x="1371600" y="4846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 URL発行、直接PUT、properties確認、サイズ不一致によるfailedまでをローカルで再現する。</a:t>
            </a:r>
            <a:endParaRPr lang="en-US" sz="1350"/>
          </a:p>
        </p:txBody>
      </p:sp>
      <p:sp>
        <p:nvSpPr>
          <p:cNvPr id="29" name="Shape 23"/>
          <p:cNvSpPr/>
          <p:nvPr/>
        </p:nvSpPr>
        <p:spPr>
          <a:xfrm>
            <a:off x="6446520" y="420624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46520" y="42062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675120" y="44074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実Azureとの差分</a:t>
            </a:r>
            <a:endParaRPr lang="en-US" sz="1500"/>
          </a:p>
        </p:txBody>
      </p:sp>
      <p:sp>
        <p:nvSpPr>
          <p:cNvPr id="32" name="Text 26"/>
          <p:cNvSpPr/>
          <p:nvPr/>
        </p:nvSpPr>
        <p:spPr>
          <a:xfrm>
            <a:off x="6675120" y="4846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RBACやManaged Identityは本番Azureで最終確認する。Azuriteは流れと失敗ケースの再現に使う。</a:t>
            </a:r>
            <a:endParaRPr lang="en-US"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1: Azuriteを起動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83080"/>
            <a:ext cx="10232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docker compose up azurite azurite-init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7180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1729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AzuriteのBlobエンドポイント例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1143000" y="3611880"/>
            <a:ext cx="9875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http://127.0.0.1:10000/devstoreaccount1/attachments/hello.txt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95097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attachments コンテナを自動作成</a:t>
            </a:r>
            <a:endParaRPr lang="en-US" sz="1900"/>
          </a:p>
          <a:p>
            <a:r>
              <a:rPr lang="en-US" sz="19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ローカルCORSを自動設定</a:t>
            </a:r>
            <a:endParaRPr lang="en-US" sz="1900"/>
          </a:p>
          <a:p>
            <a:r>
              <a:rPr lang="en-US" sz="19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BlobデータをDocker Volumeへ永続化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2: SAS URLを発行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91640"/>
            <a:ext cx="5522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-X POST http://localhost:3000/api/attachments/prepare \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-H "Content-Type: application/json" \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-d '{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"fileName": "hello.txt",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"fileSize": 12,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"contentType": "text/plain"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}'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812280" y="1783080"/>
            <a:ext cx="452628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6872" y="1920240"/>
            <a:ext cx="41970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"attachmentId": "att_xxx",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"uploadUrl": "http://127.0.0.1:10000/...?...",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"expiresAt": "..."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1097280" y="480060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80060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5001768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APIでやること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1325880" y="5440680"/>
            <a:ext cx="95554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認可 -&gt; DBにpending保存 -&gt; アップロード用SAS URL発行 -&gt; クライアントへ返す</a:t>
            </a:r>
            <a:endParaRPr lang="en-US"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3: Blobへ直接PUT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56132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37360"/>
            <a:ext cx="10232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printf "hello azure\n" &gt; /tmp/hello.txt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-X PUT "$UPLOAD_URL" \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-H "x-ms-blob-type: BlockBlob" \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-H "Content-Type: text/plain" \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--data-binary @/tmp/hello.txt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このPUT先はAPIサーバーではなく、AzuriteのBlobエンドポイント。</a:t>
            </a:r>
            <a:endParaRPr 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4: 完了確認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5613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37360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-X POST http://localhost:3000/api/attachments/att_xxx/complete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80360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815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APIで見るもの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Blobが存在するか / 実サイズが申告値と一致するか / Content-Typeが申告値と一致するか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6766560" y="2788920"/>
            <a:ext cx="434340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926080"/>
            <a:ext cx="4014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"status": "completed",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"fileSize": 12,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"contentType": "text/plain"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005840" y="50749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SAS URLでPUTできたことと、アプリで利用可能なことは別。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状態管理で壊れにくくする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299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SAS発行済み。まだBlob実体を確認していない。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2880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0299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4709160" y="2468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Blob実体を確認済み。アプリで利用OK。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82880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0299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SAS発行失敗、不一致、利用NG。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4069080" y="2468880"/>
            <a:ext cx="41148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2468880"/>
            <a:ext cx="411480" cy="0"/>
          </a:xfrm>
          <a:prstGeom prst="line">
            <a:avLst/>
          </a:prstGeom>
          <a:noFill/>
          <a:ln w="2794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5840" y="4251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02A43"/>
                </a:solidFill>
              </a:rPr>
              <a:t>Blob StorageとDBは別システム。途中失敗を前提に状態を持つ。</a:t>
            </a:r>
            <a:endParaRPr lang="en-US"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5: 失敗ケース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A43"/>
                </a:solidFill>
              </a:rPr>
              <a:t>申告サイズをわざと間違える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03120"/>
            <a:ext cx="4608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"fileName": "wrong-size.txt",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"fileSize": 999,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"contentType": "text/plain"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A43"/>
                </a:solidFill>
              </a:rPr>
              <a:t>実際は小さいファイルをアップロード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103120"/>
            <a:ext cx="4654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printf "small\n" &gt; /tmp/small.txt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-X PUT "$UPLOAD_URL" \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--data-binary @/tmp/small.txt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3383280" y="44348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7F1D1D"/>
          </a:solidFill>
          <a:ln w="12700">
            <a:solidFill>
              <a:srgbClr val="7F1D1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45720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"status": "failed",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"reason": "file size mismatch"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Delegation Keyはキャッシュする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75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SAS発行のたびに getUserDelegationKey() を呼ぶ。外部API呼び出しが増える。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6583680" y="18745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87452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075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6812280" y="25146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有効期限内のKeyを再利用。同時リクエストでは取得中Promiseも共有。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1234440" y="4251960"/>
            <a:ext cx="9326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レイテンシを減らせる</a:t>
            </a:r>
            <a:endParaRPr lang="en-US" sz="1900"/>
          </a:p>
          <a:p>
            <a:r>
              <a:rPr lang="en-US" sz="19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外部APIのレート制限に当たりにくくなる</a:t>
            </a:r>
            <a:endParaRPr lang="en-US" sz="1900"/>
          </a:p>
          <a:p>
            <a:r>
              <a:rPr lang="en-US" sz="19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余計な失敗点を減らせる</a:t>
            </a:r>
            <a:endParaRPr 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TESTING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Azuriteのよかったところ / 注意点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73152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299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よかったところ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本物のAzureを毎回使わずに試せる。デモしやすい。成功ケースだけでなく失敗ケースも確認しやすい。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82880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299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注意点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本物のAzure Storageと完全一致ではない。RBAC、CORS、SAS、Content-Type周りは実環境でも最終確認する。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1005840" y="4800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Azuriteはローカル開発とテストの味方。本番の代替ではない。</a:t>
            </a:r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実装で大事だったこと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10149840" cy="4069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SASは短時間・最小権限にする</a:t>
            </a:r>
            <a:endParaRPr lang="en-US" sz="2000"/>
          </a:p>
          <a:p>
            <a:r>
              <a:rPr lang="en-US" sz="20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APIサーバーはファイル本体を中継しない</a:t>
            </a:r>
            <a:endParaRPr lang="en-US" sz="2000"/>
          </a:p>
          <a:p>
            <a:r>
              <a:rPr lang="en-US" sz="20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SAS発行時点では成功扱いしない</a:t>
            </a:r>
            <a:endParaRPr lang="en-US" sz="2000"/>
          </a:p>
          <a:p>
            <a:r>
              <a:rPr lang="en-US" sz="20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propertiesを見て実体確認する</a:t>
            </a:r>
            <a:endParaRPr lang="en-US" sz="2000"/>
          </a:p>
          <a:p>
            <a:r>
              <a:rPr lang="en-US" sz="20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/ completed / failed で状態を分ける</a:t>
            </a:r>
            <a:endParaRPr lang="en-US" sz="2000"/>
          </a:p>
          <a:p>
            <a:r>
              <a:rPr lang="en-US" sz="20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Azuriteで成功・失敗ケースをローカル検証する</a:t>
            </a:r>
            <a:endParaRPr 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UP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まとめ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02A43"/>
                </a:solidFill>
              </a:rPr>
              <a:t>Azure Blob Storageへの直接アップロードは便利。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463040" y="2514600"/>
            <a:ext cx="91440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誰に、どの権限を、いつまで渡すか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アップロード後に何を確認するか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途中で失敗した状態をどう扱うか</a:t>
            </a:r>
            <a:endParaRPr lang="en-US" sz="2100"/>
          </a:p>
          <a:p>
            <a:r>
              <a:rPr lang="en-US" sz="210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ローカルでどう再現するか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0B981"/>
                </a:solidFill>
              </a:rPr>
              <a:t>ここまで考えると、実装がかなり安定する。</a:t>
            </a:r>
            <a:endParaRPr 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Azuriteで試す Azure Blob Storage 直接アップロード入門  /  #jazug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参考リンク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02A43"/>
                </a:solidFill>
              </a:rPr>
              <a:t>Azure Architecture Icons</a:t>
            </a:r>
            <a:endParaRPr lang="en-US" sz="140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3657600" y="1508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>
                <a:solidFill>
                  <a:srgbClr val="2563EB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learn.microsoft.com/azure/architecture/icons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960120" y="20756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02A43"/>
                </a:solidFill>
              </a:rPr>
              <a:t>Azure Blob Storage</a:t>
            </a:r>
            <a:endParaRPr lang="en-US" sz="1400"/>
          </a:p>
        </p:txBody>
      </p:sp>
      <p:sp>
        <p:nvSpPr>
          <p:cNvPr id="9" name="Text 7">
            <a:hlinkClick r:id="rId4"/>
          </p:cNvPr>
          <p:cNvSpPr/>
          <p:nvPr/>
        </p:nvSpPr>
        <p:spPr>
          <a:xfrm>
            <a:off x="3657600" y="20756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>
                <a:solidFill>
                  <a:srgbClr val="2563EB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learn.microsoft.com/azure/storage/blobs/storage-blobs-introduction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960120" y="26426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02A43"/>
                </a:solidFill>
              </a:rPr>
              <a:t>SAS overview</a:t>
            </a:r>
            <a:endParaRPr lang="en-US" sz="1400"/>
          </a:p>
        </p:txBody>
      </p:sp>
      <p:sp>
        <p:nvSpPr>
          <p:cNvPr id="11" name="Text 9">
            <a:hlinkClick r:id="rId5"/>
          </p:cNvPr>
          <p:cNvSpPr/>
          <p:nvPr/>
        </p:nvSpPr>
        <p:spPr>
          <a:xfrm>
            <a:off x="3657600" y="26426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>
                <a:solidFill>
                  <a:srgbClr val="2563EB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learn.microsoft.com/azure/storage/common/storage-sas-overview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960120" y="3209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02A43"/>
                </a:solidFill>
              </a:rPr>
              <a:t>User Delegation SAS</a:t>
            </a:r>
            <a:endParaRPr lang="en-US" sz="1400"/>
          </a:p>
        </p:txBody>
      </p:sp>
      <p:sp>
        <p:nvSpPr>
          <p:cNvPr id="13" name="Text 11">
            <a:hlinkClick r:id="rId6"/>
          </p:cNvPr>
          <p:cNvSpPr/>
          <p:nvPr/>
        </p:nvSpPr>
        <p:spPr>
          <a:xfrm>
            <a:off x="3657600" y="32095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>
                <a:solidFill>
                  <a:srgbClr val="2563EB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learn.microsoft.com/azure/storage/blobs/storage-blob-user-delegation-sas-create-dotnet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960120" y="3776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02A43"/>
                </a:solidFill>
              </a:rPr>
              <a:t>Managed Identity</a:t>
            </a:r>
            <a:endParaRPr lang="en-US" sz="1400"/>
          </a:p>
        </p:txBody>
      </p:sp>
      <p:sp>
        <p:nvSpPr>
          <p:cNvPr id="15" name="Text 13">
            <a:hlinkClick r:id="rId7"/>
          </p:cNvPr>
          <p:cNvSpPr/>
          <p:nvPr/>
        </p:nvSpPr>
        <p:spPr>
          <a:xfrm>
            <a:off x="3657600" y="37764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>
                <a:solidFill>
                  <a:srgbClr val="2563EB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learn.microsoft.com/entra/identity/managed-identities-azure-resources/overview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960120" y="4343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02A43"/>
                </a:solidFill>
              </a:rPr>
              <a:t>Azure RBAC</a:t>
            </a:r>
            <a:endParaRPr lang="en-US" sz="1400"/>
          </a:p>
        </p:txBody>
      </p:sp>
      <p:sp>
        <p:nvSpPr>
          <p:cNvPr id="17" name="Text 15">
            <a:hlinkClick r:id="rId8"/>
          </p:cNvPr>
          <p:cNvSpPr/>
          <p:nvPr/>
        </p:nvSpPr>
        <p:spPr>
          <a:xfrm>
            <a:off x="3657600" y="43434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>
                <a:solidFill>
                  <a:srgbClr val="2563EB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learn.microsoft.com/azure/role-based-access-control/overview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960120" y="4910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02A43"/>
                </a:solidFill>
              </a:rPr>
              <a:t>Azurite</a:t>
            </a:r>
            <a:endParaRPr lang="en-US" sz="1400"/>
          </a:p>
        </p:txBody>
      </p:sp>
      <p:sp>
        <p:nvSpPr>
          <p:cNvPr id="19" name="Text 17">
            <a:hlinkClick r:id="rId9"/>
          </p:cNvPr>
          <p:cNvSpPr/>
          <p:nvPr/>
        </p:nvSpPr>
        <p:spPr>
          <a:xfrm>
            <a:off x="3657600" y="49103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>
                <a:solidFill>
                  <a:srgbClr val="2563EB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learn.microsoft.com/azure/storage/common/storage-use-azurite</a:t>
            </a:r>
            <a:endParaRPr lang="en-US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layzyai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Azuriteで試す Azure Blob Storage 直接アップロード入門</dc:title>
  <dc:subject>Azure Blob Storage direct upload with Azurite</dc:subject>
  <dc:creator>horinat</dc:creator>
  <cp:revision>18</cp:revision>
  <dcterms:created xsi:type="dcterms:W3CDTF">2026-06-17T18:09:26Z</dcterms:created>
  <dcterms:modified xsi:type="dcterms:W3CDTF">2026-06-18T05:00:46Z</dcterms:modified>
</cp:coreProperties>
</file>